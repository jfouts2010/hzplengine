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39bf4756e14780" /><Relationship Type="http://schemas.openxmlformats.org/officeDocument/2006/relationships/extended-properties" Target="/docProps/app.xml" Id="R3c721ae744514d90" /><Relationship Type="http://schemas.openxmlformats.org/officeDocument/2006/relationships/officeDocument" Target="/ppt/presentation.xml" Id="Rd5694019de1f4f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80f2de5ee6470c"/>
  </p:sldMasterIdLst>
  <p:notesMasterIdLst>
    <p:notesMasterId xmlns:r="http://schemas.openxmlformats.org/officeDocument/2006/relationships" r:id="R2cb276905e954f4a"/>
  </p:notesMasterIdLst>
  <p:sldIdLst>
    <p:sldId xmlns:r="http://schemas.openxmlformats.org/officeDocument/2006/relationships" id="256" r:id="Rbd31cb22327d4dda"/>
    <p:sldId xmlns:r="http://schemas.openxmlformats.org/officeDocument/2006/relationships" id="257" r:id="R9dd7290d104c4511"/>
    <p:sldId xmlns:r="http://schemas.openxmlformats.org/officeDocument/2006/relationships" id="258" r:id="Rd1c25a67421b4b64"/>
    <p:sldId xmlns:r="http://schemas.openxmlformats.org/officeDocument/2006/relationships" id="259" r:id="Rdffcacc0cbed401e"/>
    <p:sldId xmlns:r="http://schemas.openxmlformats.org/officeDocument/2006/relationships" id="260" r:id="Re53be476f41e4646"/>
    <p:sldId xmlns:r="http://schemas.openxmlformats.org/officeDocument/2006/relationships" id="261" r:id="R9e3d5993fd51450e"/>
    <p:sldId xmlns:r="http://schemas.openxmlformats.org/officeDocument/2006/relationships" id="262" r:id="Rdde9062fc9b64e1c"/>
    <p:sldId xmlns:r="http://schemas.openxmlformats.org/officeDocument/2006/relationships" id="263" r:id="Rc134b0c3c0c64d26"/>
    <p:sldId xmlns:r="http://schemas.openxmlformats.org/officeDocument/2006/relationships" id="264" r:id="R83f7b30eb35c4f34"/>
    <p:sldId xmlns:r="http://schemas.openxmlformats.org/officeDocument/2006/relationships" id="265" r:id="Raee8a7a803724726"/>
    <p:sldId xmlns:r="http://schemas.openxmlformats.org/officeDocument/2006/relationships" id="266" r:id="R902932ad7fde4fc5"/>
    <p:sldId xmlns:r="http://schemas.openxmlformats.org/officeDocument/2006/relationships" id="267" r:id="Ree8b012b0f0747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6dab8e665d4648" /><Relationship Type="http://schemas.openxmlformats.org/officeDocument/2006/relationships/slideMaster" Target="/ppt/slideMasters/slideMaster1.xml" Id="R0b80f2de5ee6470c" /><Relationship Type="http://schemas.openxmlformats.org/officeDocument/2006/relationships/notesMaster" Target="/ppt/notesMasters/notesMaster1.xml" Id="R2cb276905e954f4a" /><Relationship Type="http://schemas.openxmlformats.org/officeDocument/2006/relationships/presProps" Target="/ppt/presProps.xml" Id="Rdbdb6f41f5654e51" /><Relationship Type="http://schemas.openxmlformats.org/officeDocument/2006/relationships/tableStyles" Target="/ppt/tableStyles.xml" Id="R206db17562734936" /><Relationship Type="http://schemas.openxmlformats.org/officeDocument/2006/relationships/slide" Target="/ppt/slides/slide1.xml" Id="Rbd31cb22327d4dda" /><Relationship Type="http://schemas.openxmlformats.org/officeDocument/2006/relationships/slide" Target="/ppt/slides/slide2.xml" Id="R9dd7290d104c4511" /><Relationship Type="http://schemas.openxmlformats.org/officeDocument/2006/relationships/slide" Target="/ppt/slides/slide3.xml" Id="Rd1c25a67421b4b64" /><Relationship Type="http://schemas.openxmlformats.org/officeDocument/2006/relationships/slide" Target="/ppt/slides/slide4.xml" Id="Rdffcacc0cbed401e" /><Relationship Type="http://schemas.openxmlformats.org/officeDocument/2006/relationships/slide" Target="/ppt/slides/slide5.xml" Id="Re53be476f41e4646" /><Relationship Type="http://schemas.openxmlformats.org/officeDocument/2006/relationships/slide" Target="/ppt/slides/slide6.xml" Id="R9e3d5993fd51450e" /><Relationship Type="http://schemas.openxmlformats.org/officeDocument/2006/relationships/slide" Target="/ppt/slides/slide7.xml" Id="Rdde9062fc9b64e1c" /><Relationship Type="http://schemas.openxmlformats.org/officeDocument/2006/relationships/slide" Target="/ppt/slides/slide8.xml" Id="Rc134b0c3c0c64d26" /><Relationship Type="http://schemas.openxmlformats.org/officeDocument/2006/relationships/slide" Target="/ppt/slides/slide9.xml" Id="R83f7b30eb35c4f34" /><Relationship Type="http://schemas.openxmlformats.org/officeDocument/2006/relationships/slide" Target="/ppt/slides/slide10.xml" Id="Raee8a7a803724726" /><Relationship Type="http://schemas.openxmlformats.org/officeDocument/2006/relationships/slide" Target="/ppt/slides/slide11.xml" Id="R902932ad7fde4fc5" /><Relationship Type="http://schemas.openxmlformats.org/officeDocument/2006/relationships/slide" Target="/ppt/slides/slide12.xml" Id="Ree8b012b0f0747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33595b0cf24d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94703941944471" /><Relationship Type="http://schemas.openxmlformats.org/officeDocument/2006/relationships/notesMaster" Target="/ppt/notesMasters/notesMaster1.xml" Id="R3cd8f0ad2e394d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6f352febf54c83" /><Relationship Type="http://schemas.openxmlformats.org/officeDocument/2006/relationships/notesMaster" Target="/ppt/notesMasters/notesMaster1.xml" Id="R7c94e9a980f747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d6dc55c8eb473b" /><Relationship Type="http://schemas.openxmlformats.org/officeDocument/2006/relationships/notesMaster" Target="/ppt/notesMasters/notesMaster1.xml" Id="R24937e8c687f4c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1ac554cf6146a1" /><Relationship Type="http://schemas.openxmlformats.org/officeDocument/2006/relationships/notesMaster" Target="/ppt/notesMasters/notesMaster1.xml" Id="Rba76f17ab2e44c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806fa700f84508" /><Relationship Type="http://schemas.openxmlformats.org/officeDocument/2006/relationships/notesMaster" Target="/ppt/notesMasters/notesMaster1.xml" Id="R1a1a1da9347141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c4431c57624ca5" /><Relationship Type="http://schemas.openxmlformats.org/officeDocument/2006/relationships/notesMaster" Target="/ppt/notesMasters/notesMaster1.xml" Id="R46b90c0e5b8345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82956853e54a83" /><Relationship Type="http://schemas.openxmlformats.org/officeDocument/2006/relationships/notesMaster" Target="/ppt/notesMasters/notesMaster1.xml" Id="R14006608883641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037d7eabc94768" /><Relationship Type="http://schemas.openxmlformats.org/officeDocument/2006/relationships/notesMaster" Target="/ppt/notesMasters/notesMaster1.xml" Id="R1ab5eaff055e48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c28ae0487e41c6" /><Relationship Type="http://schemas.openxmlformats.org/officeDocument/2006/relationships/notesMaster" Target="/ppt/notesMasters/notesMaster1.xml" Id="R1c7b1e7f42f243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507b13bb48434d" /><Relationship Type="http://schemas.openxmlformats.org/officeDocument/2006/relationships/notesMaster" Target="/ppt/notesMasters/notesMaster1.xml" Id="R312bc875066f49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305da23edb4f30" /><Relationship Type="http://schemas.openxmlformats.org/officeDocument/2006/relationships/notesMaster" Target="/ppt/notesMasters/notesMaster1.xml" Id="R0e1c935dcbbe43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62f90052114010" /><Relationship Type="http://schemas.openxmlformats.org/officeDocument/2006/relationships/notesMaster" Target="/ppt/notesMasters/notesMaster1.xml" Id="Ref61e5b42f0845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https://www.doctrine.af.mil/Portals/61/documents/AFDP_3-01/3-01-AFDP-COUNTERAIR.pdf</a:t>
            </a:r>
          </a:p>
          <a:p xmlns:a="http://schemas.openxmlformats.org/drawingml/2006/main">
            <a:r>
              <a:t>- https://www.airuniversity.af.edu/Portals/10/ASPJ/journals/Volume-16_Issue-1-4/sum02.pdf</a:t>
            </a:r>
          </a:p>
          <a:p xmlns:a="http://schemas.openxmlformats.org/drawingml/2006/main">
            <a:r>
              <a:t>- https://www.af.mil/About-Us/Fact-Sheets/Display/Article/104602/high-speed-anti-radiation-missile-targeting-system/</a:t>
            </a:r>
          </a:p>
          <a:p xmlns:a="http://schemas.openxmlformats.org/drawingml/2006/main">
            <a:r>
              <a:t>- Cover image generated by OpenAI ImageGen on 2026-08-02; fictional aircraft markings and geography; no external visual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https://www.doctrine.af.mil/Portals/61/documents/AFDP_3-01/3-01-AFDP-COUNTERAIR.pdf</a:t>
            </a:r>
          </a:p>
          <a:p xmlns:a="http://schemas.openxmlformats.org/drawingml/2006/main">
            <a:r>
              <a:t>- https://www.marines.mil/Portals/1/Publications/MCWP%203-22.2%20Suppression%20of%20Enemy%20Air%20Defenses.pdf</a:t>
            </a:r>
          </a:p>
          <a:p xmlns:a="http://schemas.openxmlformats.org/drawingml/2006/main">
            <a:r>
              <a:t>- https://www.airuniversity.af.edu/Portals/10/ASPJ/journals/Volume-16_Issue-1-4/sum02.pdf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https://www.doctrine.af.mil/Portals/61/documents/AFDP_3-01/3-01-AFDP-COUNTERAIR.pdf</a:t>
            </a:r>
          </a:p>
          <a:p xmlns:a="http://schemas.openxmlformats.org/drawingml/2006/main">
            <a:r>
              <a:t>- https://www.marines.mil/Portals/1/Publications/MCWP%203-22.2%20Suppression%20of%20Enemy%20Air%20Defenses.pdf</a:t>
            </a:r>
          </a:p>
          <a:p xmlns:a="http://schemas.openxmlformats.org/drawingml/2006/main">
            <a:r>
              <a:t>- Threat order of battle, weather, rules, and target are fictional scenario assumptions.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https://www.af.mil/About-Us/Fact-Sheets/Display/Article/104602/high-speed-anti-radiation-missile-targeting-system/</a:t>
            </a:r>
          </a:p>
          <a:p xmlns:a="http://schemas.openxmlformats.org/drawingml/2006/main">
            <a:r>
              <a:t>- https://www.navy.mil/Resources/Fact-Files/Display-FactFiles/Article/2166036/ea-18g-growler-airborne-electronic-attack-aircraft/</a:t>
            </a:r>
          </a:p>
          <a:p xmlns:a="http://schemas.openxmlformats.org/drawingml/2006/main">
            <a:r>
              <a:t>- https://www.airuniversity.af.edu/Portals/10/ASPJ/journals/Volume-16_Issue-1-4/sum02.pdf</a:t>
            </a:r>
          </a:p>
          <a:p xmlns:a="http://schemas.openxmlformats.org/drawingml/2006/main">
            <a:r>
              <a:t>- F-16 load is a representative fictional configuration; Growler line follows the U.S. Navy published representative configuration.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https://www.airuniversity.af.edu/Portals/10/ASPJ/journals/Volume-16_Issue-1-4/sum02.pdf</a:t>
            </a:r>
          </a:p>
          <a:p xmlns:a="http://schemas.openxmlformats.org/drawingml/2006/main">
            <a:r>
              <a:t>- https://www.marines.mil/Portals/1/Publications/MCWP%203-22.2%20Suppression%20of%20Enemy%20Air%20Defenses.pdf</a:t>
            </a:r>
          </a:p>
          <a:p xmlns:a="http://schemas.openxmlformats.org/drawingml/2006/main">
            <a:r>
              <a:t>- All geography, route geometry, waypoint names, distances, and threat envelopes are fictional.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https://www.airuniversity.af.edu/Portals/10/AUPress/Books/B_0090_HAAVE_HAUN_A10S_OVER_KOSOVO.pdf</a:t>
            </a:r>
          </a:p>
          <a:p xmlns:a="http://schemas.openxmlformats.org/drawingml/2006/main">
            <a:r>
              <a:t>- https://www.marines.mil/Portals/1/Publications/MCWP%203-22.2%20Suppression%20of%20Enemy%20Air%20Defenses.pdf</a:t>
            </a:r>
          </a:p>
          <a:p xmlns:a="http://schemas.openxmlformats.org/drawingml/2006/main">
            <a:r>
              <a:t>- https://www.airuniversity.af.edu/Portals/10/ASPJ/journals/Volume-16_Issue-1-4/sum02.pdf</a:t>
            </a:r>
          </a:p>
          <a:p xmlns:a="http://schemas.openxmlformats.org/drawingml/2006/main">
            <a:r>
              <a:t>- All times are fictional, calculated for a representative 260-nautical-mile outbound route and a two-hour tactical sortie.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https://www.airuniversity.af.edu/Portals/10/AUPress/Books/B_0090_HAAVE_HAUN_A10S_OVER_KOSOVO.pdf</a:t>
            </a:r>
          </a:p>
          <a:p xmlns:a="http://schemas.openxmlformats.org/drawingml/2006/main">
            <a:r>
              <a:t>- https://www.marines.mil/Portals/1/Publications/MCWP%203-22.2%20Suppression%20of%20Enemy%20Air%20Defenses.pdf</a:t>
            </a:r>
          </a:p>
          <a:p xmlns:a="http://schemas.openxmlformats.org/drawingml/2006/main">
            <a:r>
              <a:t>- The narrative, callsigns, and times are fictional; planning tasks reflect public doctrine and historical package coordination.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https://www.airuniversity.af.edu/Portals/10/ASPJ/journals/Volume-16_Issue-1-4/sum02.pdf</a:t>
            </a:r>
          </a:p>
          <a:p xmlns:a="http://schemas.openxmlformats.org/drawingml/2006/main">
            <a:r>
              <a:t>- https://www.af.mil/About-Us/Fact-Sheets/Display/Article/104602/high-speed-anti-radiation-missile-targeting-system/</a:t>
            </a:r>
          </a:p>
          <a:p xmlns:a="http://schemas.openxmlformats.org/drawingml/2006/main">
            <a:r>
              <a:t>- https://www.marines.mil/Portals/1/Publications/MCWP%203-22.2%20Suppression%20of%20Enemy%20Air%20Defenses.pdf</a:t>
            </a:r>
          </a:p>
          <a:p xmlns:a="http://schemas.openxmlformats.org/drawingml/2006/main">
            <a:r>
              <a:t>- Weapon times and outcomes are fictional. The distinction between suppression and destruction reflects public doctrine and Kosovo analysis.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https://www.marines.mil/Portals/1/Publications/MCWP%203-22.2%20Suppression%20of%20Enemy%20Air%20Defenses.pdf</a:t>
            </a:r>
          </a:p>
          <a:p xmlns:a="http://schemas.openxmlformats.org/drawingml/2006/main">
            <a:r>
              <a:t>- https://www.airuniversity.af.edu/Portals/10/ASPJ/journals/Volume-16_Issue-1-4/sum02.pdf</a:t>
            </a:r>
          </a:p>
          <a:p xmlns:a="http://schemas.openxmlformats.org/drawingml/2006/main">
            <a:r>
              <a:t>- Strike result, no-shot decision, recovery sequence, and times are fictional scenario outcomes.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https://www.airuniversity.af.edu/Portals/10/AUPress/Books/B_0090_HAAVE_HAUN_A10S_OVER_KOSOVO.pdf</a:t>
            </a:r>
          </a:p>
          <a:p xmlns:a="http://schemas.openxmlformats.org/drawingml/2006/main">
            <a:r>
              <a:t>- https://www.airuniversity.af.edu/Portals/10/ASPJ/journals/Volume-16_Issue-1-4/sum02.pdf</a:t>
            </a:r>
          </a:p>
          <a:p xmlns:a="http://schemas.openxmlformats.org/drawingml/2006/main">
            <a:r>
              <a:t>- https://www.af.mil/About-Us/Fact-Sheets/Display/Article/104602/high-speed-anti-radiation-missile-targeting-system/</a:t>
            </a:r>
          </a:p>
          <a:p xmlns:a="http://schemas.openxmlformats.org/drawingml/2006/main">
            <a:r>
              <a:t>- All ledger entries are fictional simulation events.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https://www.doctrine.af.mil/Portals/61/documents/AFDP_3-01/3-01-AFDP-COUNTERAIR.pdf</a:t>
            </a:r>
          </a:p>
          <a:p xmlns:a="http://schemas.openxmlformats.org/drawingml/2006/main">
            <a:r>
              <a:t>- https://www.marines.mil/Portals/1/Publications/MCWP%203-22.2%20Suppression%20of%20Enemy%20Air%20Defenses.pdf</a:t>
            </a:r>
          </a:p>
          <a:p xmlns:a="http://schemas.openxmlformats.org/drawingml/2006/main">
            <a:r>
              <a:t>- https://www.airuniversity.af.edu/Portals/10/ASPJ/journals/Volume-16_Issue-1-4/sum02.pdf</a:t>
            </a:r>
          </a:p>
          <a:p xmlns:a="http://schemas.openxmlformats.org/drawingml/2006/main">
            <a:r>
              <a:t>- All mission metrics and battle-damage outcomes are fictional.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https://www.doctrine.af.mil/Portals/61/documents/AFDP_3-01/3-01-AFDP-COUNTERAIR.pdf</a:t>
            </a:r>
          </a:p>
          <a:p xmlns:a="http://schemas.openxmlformats.org/drawingml/2006/main">
            <a:r>
              <a:t>- https://www.marines.mil/Portals/1/Publications/MCWP%203-22.2%20Suppression%20of%20Enemy%20Air%20Defenses.pdf</a:t>
            </a:r>
          </a:p>
          <a:p xmlns:a="http://schemas.openxmlformats.org/drawingml/2006/main">
            <a:r>
              <a:t>- https://www.airuniversity.af.edu/Portals/10/ASPJ/journals/Volume-16_Issue-1-4/sum02.pdf</a:t>
            </a:r>
          </a:p>
          <a:p xmlns:a="http://schemas.openxmlformats.org/drawingml/2006/main">
            <a:r>
              <a:t>- https://www.af.mil/About-Us/Fact-Sheets/Display/Article/104602/high-speed-anti-radiation-missile-targeting-system/</a:t>
            </a:r>
          </a:p>
          <a:p xmlns:a="http://schemas.openxmlformats.org/drawingml/2006/main">
            <a:r>
              <a:t>- https://www.navy.mil/Resources/Fact-Files/Display-FactFiles/Article/2166036/ea-18g-growler-airborne-electronic-attack-aircraft/</a:t>
            </a:r>
          </a:p>
          <a:p xmlns:a="http://schemas.openxmlformats.org/drawingml/2006/main">
            <a:r>
              <a:t>- Simulation recommendations are analytical inferences from the cited public sources and the fictional sortie.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8a945a71744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0a6b2e2f7c4002" /><Relationship Type="http://schemas.openxmlformats.org/officeDocument/2006/relationships/slideLayout" Target="/ppt/slideLayouts/slideLayout1.xml" Id="R347105fe835c48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7105fe835c48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197a8af9d4d33" /><Relationship Type="http://schemas.openxmlformats.org/officeDocument/2006/relationships/image" Target="/ppt/media/image.png" Id="R5990efc097394cc3" /><Relationship Type="http://schemas.openxmlformats.org/officeDocument/2006/relationships/notesSlide" Target="/ppt/notesSlides/notesSlide1.xml" Id="R2a4afb0555444e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b9970649741f4" /><Relationship Type="http://schemas.openxmlformats.org/officeDocument/2006/relationships/notesSlide" Target="/ppt/notesSlides/notesSlide2.xml" Id="R4b3bb3fa1c2e43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d820b84ba45bc" /><Relationship Type="http://schemas.openxmlformats.org/officeDocument/2006/relationships/notesSlide" Target="/ppt/notesSlides/notesSlide3.xml" Id="Rbd5d8ba36d8342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b016fb5034457" /><Relationship Type="http://schemas.openxmlformats.org/officeDocument/2006/relationships/notesSlide" Target="/ppt/notesSlides/notesSlide4.xml" Id="R3b9202f0cca540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7a722488b4fee" /><Relationship Type="http://schemas.openxmlformats.org/officeDocument/2006/relationships/notesSlide" Target="/ppt/notesSlides/notesSlide5.xml" Id="Ra7930ea9ad0845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c8a954bd14266" /><Relationship Type="http://schemas.openxmlformats.org/officeDocument/2006/relationships/notesSlide" Target="/ppt/notesSlides/notesSlide6.xml" Id="Rf11c55bdff4041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e94795d4246f6" /><Relationship Type="http://schemas.openxmlformats.org/officeDocument/2006/relationships/notesSlide" Target="/ppt/notesSlides/notesSlide7.xml" Id="R7ec8778dd70646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1de5f67d045f2" /><Relationship Type="http://schemas.openxmlformats.org/officeDocument/2006/relationships/notesSlide" Target="/ppt/notesSlides/notesSlide8.xml" Id="Rca6b05edee244e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5b724a63944c4" /><Relationship Type="http://schemas.openxmlformats.org/officeDocument/2006/relationships/notesSlide" Target="/ppt/notesSlides/notesSlide9.xml" Id="Rbd0a336b2d904e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d625caa6e4750" /><Relationship Type="http://schemas.openxmlformats.org/officeDocument/2006/relationships/notesSlide" Target="/ppt/notesSlides/notesSlide10.xml" Id="Rceb167b03e7640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3c8a715ec4d80" /><Relationship Type="http://schemas.openxmlformats.org/officeDocument/2006/relationships/notesSlide" Target="/ppt/notesSlides/notesSlide11.xml" Id="Rab023a7e97a648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3872706f74084" /><Relationship Type="http://schemas.openxmlformats.org/officeDocument/2006/relationships/notesSlide" Target="/ppt/notesSlides/notesSlide12.xml" Id="Rffddb744cc764a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156AF-8BE5-4F9C-BF04-81B6057F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MISSION DEBRIEF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C013E-43D2-420B-A2AE-D82D264D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Viper 21</a:t>
            </a:r>
          </a:p>
          <a:p xmlns:a="http://schemas.openxmlformats.org/drawingml/2006/main">
            <a:pPr algn="l">
              <a:defRPr sz="4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SEAD escort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40D10-28A1-4C88-889E-349E209B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 realistic, fictional sortie timeline for HZPL simulation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428BC-082F-4C1B-9511-45FF2CCC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F-16CM Wild Weasel · 4 aircraft</a:t>
            </a:r>
          </a:p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06:02–08:05 local · Operation Glass Harbor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0efc097394cc3"/>
          <a:srcRect xmlns:a="http://schemas.openxmlformats.org/drawingml/2006/main" l="16100" t="0" r="161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400050"/>
            <a:ext cx="5695950" cy="560070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D5163-EBE8-47C1-AFCD-E4FC3884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0658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2">
            <a:extLst xmlns:a="http://schemas.openxmlformats.org/drawingml/2006/main">
              <a:ext uri="{FF2B5EF4-FFF2-40B4-BE49-F238E27FC236}">
                <a16:creationId xmlns:a16="http://schemas.microsoft.com/office/drawing/2014/main" id="{D678F996-541A-4EC0-90FD-B8DDE2A1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2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escort protects a time–space corridor, not a formation slot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293A5-63BC-4F22-BA4A-522239F5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E0AD5-5D17-4E76-92E8-B9E09621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FICTIONAL TRAINING SCENARIO · PUBLIC-SOURCE DOCTRINE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C2874-7922-4C8B-A3A9-3D8C0E8B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supported effect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A3C0C-1E96-4A9F-8B2A-7AA8C7CB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Keep the strike free from prohibitive surface-to-air interference during ingress, weapons delivery, and egress.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958F5-8880-4E76-BEC7-7554ED41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052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4984F-98EE-40E2-9D08-D414B273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ARRIVE EARLY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8AA54-2D1F-4478-8C78-964379A7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Build the emitter picture before the strikers enter lethal envelopes. Historical F-16CJ packages often reached the target area first.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0BC67-289E-4B0E-A0F8-4FD9F8FC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5052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2E822-B797-4D6B-9CEC-BFEB3AA0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CREATE A DILEMMA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C9EEB-8269-484E-B3B5-35E6A3F9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If the radar emits, it can be detected, jammed, or attacked. If it stays silent, the defended target loses effective coverage.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397E1-56E9-4635-B84D-A5A489FA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5052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69D2B-F857-4799-A848-B3BA3A86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STAY THROUGH EGRESS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D4701-7A2C-4971-8F14-6DA5C7C4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 radar may recover as soon as the threat passes. Coverage ends only after the protected aircraft clear the corridor.</a:t>
            </a:r>
          </a:p>
        </p:txBody>
      </p:sp>
    </p:spTree>
    <p:extLst>
      <p:ext uri="{BB962C8B-B14F-4D97-AF65-F5344CB8AC3E}">
        <p14:creationId xmlns:p14="http://schemas.microsoft.com/office/powerpoint/2010/main" val="6391178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3">
            <a:extLst xmlns:a="http://schemas.openxmlformats.org/drawingml/2006/main">
              <a:ext uri="{FF2B5EF4-FFF2-40B4-BE49-F238E27FC236}">
                <a16:creationId xmlns:a16="http://schemas.microsoft.com/office/drawing/2014/main" id="{A7687B12-AB6B-4D57-974E-9986F872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83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target sits behind a mobile radar threat and a fixed terminal-defense 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391F7-BB30-443C-BA6A-95264F97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5609C-01C9-4F61-93B6-2BC7AD6E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FICTIONAL TRAINING SCENARIO · PUBLIC-SOURCE DOCTRINE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EBE3B-1932-40C3-A0AE-260CC769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Operation Glass Harbor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EA725-46DF-4669-AD0A-56D0E944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Coalition aircraft must disable the Orion logistics node before a ground offensive. Viper 21 provides localized concurrent SEAD for Razor 31, a four-ship F-15E strike.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FC8A6-6B0D-4B4F-B939-A761DFC2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Rules and assumptions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E421A-EFDA-42B3-BB9A-F3EDE72B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857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• Fictional geography and units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• Daylight, broken cloud at 18,000 ft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• No hostile fighter launch expected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• 25,000 ft minimum near target for IR/AAA risk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• Abort if both SEAD elements lose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2A569-2A56-4D9E-86C1-3B07B687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57300"/>
            <a:ext cx="5981700" cy="44958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49874-5D20-4E29-88BB-16393E94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KNOWN / SUSPECTED IADS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E148C-14D5-4737-9506-9084463B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0"/>
          </a:solidFill>
          <a:ln xmlns:a="http://schemas.openxmlformats.org/drawingml/2006/main" w="9525">
            <a:solidFill>
              <a:srgbClr val="5B64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F96CB-ACF8-4F69-82D8-40555371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WATCHTOWER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DD167-BC33-48C6-83A7-8D4BDF5B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Long-range surveillance radar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0A7F2-6758-4D2C-ADBF-671D6B70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764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Known fixed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8BBF8-4BA0-42C6-876C-443A30D0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15050" y="2590800"/>
            <a:ext cx="5362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2F3F8-F179-40C1-A9B9-CE60AFD0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444"/>
          </a:solidFill>
          <a:ln xmlns:a="http://schemas.openxmlformats.org/drawingml/2006/main" w="9525">
            <a:solidFill>
              <a:srgbClr val="C944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F79FF-61CA-4D7B-95B8-BA6449F0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BASTION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B7F71-0F76-4F6C-A815-F01E118C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95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Mobile SA-6 analogue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7E68A-A322-4CCA-AB22-0542C6EA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956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9444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4444"/>
                </a:solidFill>
                <a:latin typeface="Arial"/>
                <a:ea typeface="Arial"/>
                <a:cs typeface="Arial"/>
              </a:rPr>
              <a:t>Area located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1CB35-47B8-42EA-81BB-5A723D47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15050" y="3409950"/>
            <a:ext cx="5362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3C113-59E4-4E1F-AB9A-9F8EAE3A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444"/>
          </a:solidFill>
          <a:ln xmlns:a="http://schemas.openxmlformats.org/drawingml/2006/main" w="9525">
            <a:solidFill>
              <a:srgbClr val="C944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01AEB-EA0F-468A-ACB6-E9F6E21B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CITADEL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598F8-58A3-406F-97C5-53F02CA4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Fixed SA-3 analogue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2AFD1-4580-41D4-AAED-1FD663FE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85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9444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4444"/>
                </a:solidFill>
                <a:latin typeface="Arial"/>
                <a:ea typeface="Arial"/>
                <a:cs typeface="Arial"/>
              </a:rPr>
              <a:t>Precise location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197142-A447-4C03-A430-80792759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15050" y="4229100"/>
            <a:ext cx="5362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1B723A-4C14-44F7-8EE4-152FBB3A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9525">
            <a:solidFill>
              <a:srgbClr val="E8A2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3E8C09-7CF0-4A6B-B6BA-73E91045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ORION SHORAD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B72C1C-CC0C-464C-91F5-115B51D3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33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IR missiles + AAA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1996FF-446D-40AF-AF4A-F00F9A50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33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E8A2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8A23A"/>
                </a:solidFill>
                <a:latin typeface="Arial"/>
                <a:ea typeface="Arial"/>
                <a:cs typeface="Arial"/>
              </a:rPr>
              <a:t>Non-radiating</a:t>
            </a:r>
          </a:p>
        </p:txBody>
      </p:sp>
    </p:spTree>
    <p:extLst>
      <p:ext uri="{BB962C8B-B14F-4D97-AF65-F5344CB8AC3E}">
        <p14:creationId xmlns:p14="http://schemas.microsoft.com/office/powerpoint/2010/main" val="5199481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3C0F2595-4EF1-4FAF-91A9-D1AD0F74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78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Most of the Wild Weasel load is fuel, sensing, jamming, and self-protection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0CE54-0468-46A6-A342-B12F1225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6D88E-9168-4BBE-A8C8-B43626FA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FICTIONAL TRAINING SCENARIO · PUBLIC-SOURCE DOCTRINE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CCAC2-55D7-4411-A9BA-1341340A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Representative public configurations adapted to a fictional 2010s-era mission; exact station clearance varies by operator and software block.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790700"/>
          <a:ext xmlns:a="http://schemas.openxmlformats.org/drawingml/2006/main" cx="113919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000250"/>
                <a:gridCol w="2286000"/>
                <a:gridCol w="4762500"/>
                <a:gridCol w="819150"/>
              </a:tblGrid>
              <a:tr h="56333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Flight</a:t>
                      </a:r>
                    </a:p>
                  </a:txBody>
                  <a:tcPr marL="95250" marR="95250" marT="57150" marB="57150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Aircraft</a:t>
                      </a:r>
                    </a:p>
                  </a:txBody>
                  <a:tcPr marL="95250" marR="95250" marT="57150" marB="57150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Mission</a:t>
                      </a:r>
                    </a:p>
                  </a:txBody>
                  <a:tcPr marL="95250" marR="95250" marT="57150" marB="57150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Representative load</a:t>
                      </a:r>
                    </a:p>
                  </a:txBody>
                  <a:tcPr marL="95250" marR="95250" marT="57150" marB="57150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Qty</a:t>
                      </a:r>
                    </a:p>
                  </a:txBody>
                  <a:tcPr marL="95250" marR="95250" marT="57150" marB="57150">
                    <a:solidFill>
                      <a:srgbClr val="111318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VIPER 21</a:t>
                      </a:r>
                    </a:p>
                  </a:txBody>
                  <a:tcPr marL="95250" marR="95250" marT="57150" marB="5715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F-16CM Block 50</a:t>
                      </a:r>
                    </a:p>
                  </a:txBody>
                  <a:tcPr marL="95250" marR="95250" marT="57150" marB="5715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Close-in SEAD escort</a:t>
                      </a:r>
                    </a:p>
                  </a:txBody>
                  <a:tcPr marL="95250" marR="95250" marT="57150" marB="5715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2 AGM-88C · 2 AIM-120C · 2 AIM-9M · 2 wing tanks · HTS · ALQ-184</a:t>
                      </a:r>
                    </a:p>
                  </a:txBody>
                  <a:tcPr marL="95250" marR="95250" marT="57150" marB="5715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4</a:t>
                      </a:r>
                    </a:p>
                  </a:txBody>
                  <a:tcPr marL="95250" marR="95250" marT="57150" marB="57150">
                    <a:solidFill>
                      <a:srgbClr val="D0EDFA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KNIGHT 51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EA-18G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Standoff electronic attack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2 AGM-88 · 2 AIM-120 · 3 ALQ-99 · 2 external tanks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2</a:t>
                      </a:r>
                    </a:p>
                  </a:txBody>
                  <a:tcPr marL="95250" marR="95250" marT="57150" marB="57150"/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RAZOR 31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F-15E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Orion strike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2 GBU-31 · air-to-air self-defense · targeting pod · external fuel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4</a:t>
                      </a:r>
                    </a:p>
                  </a:txBody>
                  <a:tcPr marL="95250" marR="95250" marT="57150" marB="57150"/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EAGLE 41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F-15C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Fighter sweep / cover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Air-to-air loadout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2</a:t>
                      </a:r>
                    </a:p>
                  </a:txBody>
                  <a:tcPr marL="95250" marR="95250" marT="57150" marB="57150"/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MAGIC 11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E-3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Airborne C2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Theater support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1</a:t>
                      </a:r>
                    </a:p>
                  </a:txBody>
                  <a:tcPr marL="95250" marR="95250" marT="57150" marB="57150"/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TEXACO 61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KC-135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Pre- and post-strike fuel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Single protected tanker track</a:t>
                      </a:r>
                    </a:p>
                  </a:txBody>
                  <a:tcPr marL="95250" marR="9525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318"/>
                          </a:solidFill>
                        </a:rPr>
                        <a:t>1</a:t>
                      </a:r>
                    </a:p>
                  </a:txBody>
                  <a:tcPr marL="95250" marR="95250" marT="57150" marB="571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475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itle-5">
            <a:extLst xmlns:a="http://schemas.openxmlformats.org/drawingml/2006/main">
              <a:ext uri="{FF2B5EF4-FFF2-40B4-BE49-F238E27FC236}">
                <a16:creationId xmlns:a16="http://schemas.microsoft.com/office/drawing/2014/main" id="{03767135-B406-418F-A656-0943FA22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Viper 21 brackets the threat area ahead of the strike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6D4E8-575E-4782-BB0F-2D100276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64155-53E6-4D25-A76C-1723BDB9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FICTIONAL TRAINING SCENARIO · PUBLIC-SOURCE DOCTRINE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F2439-223B-44C4-9DE9-43BBADC6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04FC3-4E1E-4E01-BAC4-B0B7DBC2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59055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0A71B-E257-4788-ADDA-523C50BC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66850"/>
            <a:ext cx="51054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21CA6-51BC-48FC-B2F0-8D2749D7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96050" y="1466850"/>
            <a:ext cx="0" cy="434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3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5BE03-F309-48B8-B9C4-C0C6EB48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WESTERN SEA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E66B4-8082-404E-8D8C-331961F8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76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NEMERIA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848FC-CDCD-4063-BE18-07AC3500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717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DDD"/>
          </a:solidFill>
          <a:ln xmlns:a="http://schemas.openxmlformats.org/drawingml/2006/main" w="19050">
            <a:solidFill>
              <a:srgbClr val="C94444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6657A-F119-4A66-8FF0-54F3AFA5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695450" cy="1695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9CC"/>
          </a:solidFill>
          <a:ln xmlns:a="http://schemas.openxmlformats.org/drawingml/2006/main" w="19050">
            <a:solidFill>
              <a:srgbClr val="E8A23A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4ADA0-0793-471C-A167-2A54B8A9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19250" y="4095750"/>
            <a:ext cx="24765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EBB8C-6075-4242-8D65-3A240CF1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95750" y="3333750"/>
            <a:ext cx="1476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C118E-ABCC-417D-9895-682F0EAE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72125" y="3067050"/>
            <a:ext cx="100012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351BD-E575-4C08-8A04-11722A3E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572250" y="2533650"/>
            <a:ext cx="127635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4E4C7-F7D7-4084-9236-EA40CEC7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48600" y="2533650"/>
            <a:ext cx="234315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6D4D65-3ADF-4CE6-8F17-7993D6B7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72250" y="3067050"/>
            <a:ext cx="1333500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8D3B0-59EF-47D1-B779-321C9A95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05750" y="3143250"/>
            <a:ext cx="228600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95DBE-F345-47DF-AA51-AE8A6569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572250" y="3143250"/>
            <a:ext cx="3619500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A2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3EFB30-22EA-4573-ADDF-2E5445A3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619250" y="4762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A2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3A64DA-A072-4A1D-BF79-CFB388B6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95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2279C-CC3C-4BCC-8687-6322593F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76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KESTREL AB</a:t>
            </a:r>
          </a:p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06:02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409FD-E0F4-4D83-AD0C-28A0DE48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029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0257E-6777-4FBA-A0BF-540BABB0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100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TEXACO</a:t>
            </a:r>
          </a:p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06:24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B9563B-BD9B-42AF-8EE6-EB56E3AE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DC89E-504C-4230-BF4C-C5CEBB6D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480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ARROW</a:t>
            </a:r>
          </a:p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06:44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9181C-99C0-4AB3-B0E3-D9D98972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00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839EED-7F0A-4C19-AF5C-C6A8804C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813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FENCE IN</a:t>
            </a:r>
          </a:p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06:54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B5FC79-93E2-4A73-BF3B-69F9D749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66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C80E06-3BEE-447D-BC5B-234FB416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383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NORTH ELEMENT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24594C-D033-4134-82C2-8F67576E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933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F8BC2D-D9BD-4493-AD00-11119763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14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SOUTH ELEMENT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75B07D-F235-4C84-983C-93D3CA12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444"/>
          </a:solidFill>
          <a:ln xmlns:a="http://schemas.openxmlformats.org/drawingml/2006/main" w="9525">
            <a:solidFill>
              <a:srgbClr val="C9444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10E442-1F64-444C-B2C3-59D6C792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575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ORION</a:t>
            </a:r>
          </a:p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07:10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F6F06F-8450-43A5-8042-E37CC7CD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95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9B151D-0BC8-45E1-BFE7-2830AD27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768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FENCE OUT</a:t>
            </a:r>
          </a:p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07:14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030433-872D-4459-822A-67E5BA61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944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444"/>
                </a:solidFill>
                <a:latin typeface="Arial"/>
                <a:ea typeface="Arial"/>
                <a:cs typeface="Arial"/>
              </a:rPr>
              <a:t>BASTION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988ACF-8DE7-40F7-A859-89A0DF89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28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8A2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A23A"/>
                </a:solidFill>
                <a:latin typeface="Arial"/>
                <a:ea typeface="Arial"/>
                <a:cs typeface="Arial"/>
              </a:rPr>
              <a:t>CITADEL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8EEF9D-2245-4F7D-A42C-794374EF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Blue: ingress / escort geometry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88B8A9-35E1-4C4B-8497-E703AE6A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05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A23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A23A"/>
                </a:solidFill>
                <a:latin typeface="Arial"/>
                <a:ea typeface="Arial"/>
                <a:cs typeface="Arial"/>
              </a:rPr>
              <a:t>Amber: egress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FC12D9-6E2C-4C26-AC47-B5458F31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Dashed: southern sensor bracket</a:t>
            </a:r>
          </a:p>
        </p:txBody>
      </p:sp>
    </p:spTree>
    <p:extLst>
      <p:ext uri="{BB962C8B-B14F-4D97-AF65-F5344CB8AC3E}">
        <p14:creationId xmlns:p14="http://schemas.microsoft.com/office/powerpoint/2010/main" val="5808131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itle-6">
            <a:extLst xmlns:a="http://schemas.openxmlformats.org/drawingml/2006/main">
              <a:ext uri="{FF2B5EF4-FFF2-40B4-BE49-F238E27FC236}">
                <a16:creationId xmlns:a16="http://schemas.microsoft.com/office/drawing/2014/main" id="{F9D00C1A-110E-4DB7-B3BF-99CBC931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69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two-hour sortie is synchronized around a 24-minute exposure window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171BE-E41B-4747-8BDA-ED462C1E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39951-A406-4AC9-856A-8544E90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FICTIONAL TRAINING SCENARIO · PUBLIC-SOURCE DOCTRINE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B297F-B886-4DDB-9211-5EDFC459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1828800"/>
            <a:ext cx="0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76BE8-BB04-4A0B-AADC-0444E661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4859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04:15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15E20-BDB7-419F-9F6E-EC927220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10990" y="1828800"/>
            <a:ext cx="0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DFCA0-8EAC-4B4A-9B3C-77D99DAC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090" y="14859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05:10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15BEB-0190-42B0-A510-0A9F1E2B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35980" y="1828800"/>
            <a:ext cx="0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3DAE2-A652-486D-BAFE-423A4DE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080" y="14859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06:02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EA9BD-81E4-4F92-A41A-07606054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60970" y="1828800"/>
            <a:ext cx="0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F2DAB-7B2F-46B4-B3E4-4A38F66E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14859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06:54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F762E-CC73-4694-A90B-446D8D62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85960" y="1828800"/>
            <a:ext cx="0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6E7C3-6593-412C-BB8A-35E5122A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060" y="14859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07:10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D50D0-2DC5-4A32-A9C0-A830841D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10950" y="1828800"/>
            <a:ext cx="0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A5898-1732-4F36-B1EB-0B8B0F06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4859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08:05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C8B94-DA65-451D-9E3B-CA0795EB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Brief + prepare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82159-A712-4B8E-AF92-9DEE6C26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VIPER 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BE36D-6072-419A-8237-31E50DBA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KNIGHT 51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00A51-DEC9-4E2D-9CFC-760B8155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RAZOR 31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8ED34-D001-4A44-8AED-E399CBB6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IADS exposure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EBAFE-1AB1-41A8-9FAA-42383457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Recover + debrief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C0FD8E-0F9E-4264-B7AB-F13F9FB6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3102483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D34B4-7F64-4153-8370-D7430B48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47875"/>
            <a:ext cx="291198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mass brief → step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59A04-4E95-46E6-A0A5-9D4CEADA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483" y="2609850"/>
            <a:ext cx="5657469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10CE0-A22D-4BE7-8EAE-C1AF981B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733" y="2657475"/>
            <a:ext cx="546696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takeoff · tanker · SEAD escort · landing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9868CA-70DB-43BD-9E05-A7CB31F6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976" y="3219450"/>
            <a:ext cx="1733741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B52A3E-5E05-43F5-B72A-15C2B3B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226" y="3267075"/>
            <a:ext cx="154324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jamming support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780B41-EF24-49E2-802D-F2B2F8FD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479" y="3829050"/>
            <a:ext cx="273748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62CAA5-6035-4554-8661-CFACD088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729" y="3876675"/>
            <a:ext cx="254698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strike package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E94049-FE27-411C-A041-BD4BCA88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0974" y="4438650"/>
            <a:ext cx="1551241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DDD"/>
          </a:solidFill>
          <a:ln xmlns:a="http://schemas.openxmlformats.org/drawingml/2006/main" w="9525">
            <a:solidFill>
              <a:srgbClr val="F8DD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01E7BF-8E58-4BD9-850C-8BFDD607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224" y="4486275"/>
            <a:ext cx="136074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coast-in → coast-out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92D67B-ECDE-477E-813E-F58F1509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461" y="5048250"/>
            <a:ext cx="2007489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3041CC-2B5E-499D-9809-EE5DFC76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711" y="5095875"/>
            <a:ext cx="181698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2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recovery · intel update · debrief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A83931-68E8-4DBB-A3AD-48CED296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15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4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4444"/>
                </a:solidFill>
                <a:latin typeface="Arial"/>
                <a:ea typeface="Arial"/>
                <a:cs typeface="Arial"/>
              </a:rPr>
              <a:t>Critical window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ACAA83-61C9-48A3-B5BA-BCF730B4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86825" y="182880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444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18867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7">
            <a:extLst xmlns:a="http://schemas.openxmlformats.org/drawingml/2006/main">
              <a:ext uri="{FF2B5EF4-FFF2-40B4-BE49-F238E27FC236}">
                <a16:creationId xmlns:a16="http://schemas.microsoft.com/office/drawing/2014/main" id="{193C1394-C857-4279-9BB2-78D9F6A8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Intelligence, fuel, and timing are aligned before coast-in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D322E-5CBF-414F-A7DC-B79E5512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66AC7-DA47-4276-9150-078EBF10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FICTIONAL TRAINING SCENARIO · PUBLIC-SOURCE DOCTRINE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973C2-BA44-4E32-84CC-1CDDB629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53911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0F0BF-0864-40E4-92DA-FC55FC8B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725E2-EA02-4D50-8507-1ED8CD6A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04:15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EDE6C-6E79-4C9A-8614-C2E1AEF5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Package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EDCF8-957E-4D07-A4A8-C66427B7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Threat order of battle, emitter priorities, jamming assignments, HARM authorities, abort criteria, tanker plan, and strike timing are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B67B1-E0B6-44C0-8CE3-759A2CFA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1ADFA-44F0-4E9C-ABC2-36DF6A7B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04:15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C4113-9449-4D80-959F-995BDF85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6BA40-E5B0-4D2A-9964-1E39D021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07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06:02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F2221-FCDD-4BCB-B568-57E5306E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Viper 21 airborne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93C6E-E7D0-4FDB-92AC-9D8E7E6D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Two elements depart Kestrel AB, rejoin in climb, check sensors and datalink, then top off from Texaco 61.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83FED-9456-4ED9-9C9D-A14A29A7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5F9BD-C039-434D-8327-50B27054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62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06:02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54CAB8-AE9E-4770-AC3A-94AD40C7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63A8A-06D5-48BC-BC8B-2960686F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907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06:44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C5516F-4B66-49E6-8ACD-E2539437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Rendezvous at ARROW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29B06-ED83-4D6D-BEC4-ED2DC675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Viper 21 reaches the marshal first. Razor 31 joins two minutes later; Knight 51 is already moving to its standoff orbit.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9BD21-A85E-452A-BC55-A8B7234C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70EFCD-8512-4DF3-860F-EB377A95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62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06:44</a:t>
            </a:r>
          </a:p>
        </p:txBody>
      </p:sp>
    </p:spTree>
    <p:extLst>
      <p:ext uri="{BB962C8B-B14F-4D97-AF65-F5344CB8AC3E}">
        <p14:creationId xmlns:p14="http://schemas.microsoft.com/office/powerpoint/2010/main" val="19553578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8">
            <a:extLst xmlns:a="http://schemas.openxmlformats.org/drawingml/2006/main">
              <a:ext uri="{FF2B5EF4-FFF2-40B4-BE49-F238E27FC236}">
                <a16:creationId xmlns:a16="http://schemas.microsoft.com/office/drawing/2014/main" id="{0CD86E42-CCAB-4C89-917C-FCE1E3A6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Two emissions create two different suppression problems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D3423-69D2-40EC-959B-C61D37DB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D13D4-9362-4E4F-ABF3-5FDF2201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FICTIONAL TRAINING SCENARIO · PUBLIC-SOURCE DOCTRINE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0183A-5CAB-4082-A1C7-279337CB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53911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2AC2E-6EF1-4E7B-8264-81DC39D3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6A9A8-7A11-469B-9F4C-11525C9C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06:54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75AF7-C1DF-467A-8C46-8CF80497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Fence-in and bracket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51B15-329C-4D91-9D76-E6C31A5F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Viper 21 moves 15–20 nm ahead of Razor. Lead element takes the north side; second element takes the south to improve emitter geometry.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8EDF6-BDDF-4312-A5D1-759D664D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5C522-9868-47F8-8C1F-AE288BA6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06:54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3E1C0-A89A-4F00-8049-223DB4C1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DD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72216-26BB-4BB4-B955-E1E6F53F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07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944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94444"/>
                </a:solidFill>
                <a:latin typeface="Arial"/>
                <a:ea typeface="Arial"/>
                <a:cs typeface="Arial"/>
              </a:rPr>
              <a:t>07:02:30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7A27F-A553-4070-A3DD-F62F2E5D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BASTION challenged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B2B4C-FA01-4C50-9277-BD53471F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The mobile radar shifts from search to track. Knight concentrates jamming; Viper 21 fires one AGM-88C. The radar shuts down before launching.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EC791-3BBC-4668-9752-C14EC8B6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444"/>
          </a:solidFill>
          <a:ln xmlns:a="http://schemas.openxmlformats.org/drawingml/2006/main" w="9525">
            <a:solidFill>
              <a:srgbClr val="C944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384FB-2F6C-42A2-AC84-E6D2175F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62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07:02:30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5E908-33BE-4696-B7B6-10D8541A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DD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48FC5-0B21-4CA1-97EB-BAF65FD4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907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944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94444"/>
                </a:solidFill>
                <a:latin typeface="Arial"/>
                <a:ea typeface="Arial"/>
                <a:cs typeface="Arial"/>
              </a:rPr>
              <a:t>07:05:00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CD875-B93C-495E-8F7E-8718EE0A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CITADEL shoots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A0CFD-BAF3-452C-A386-520B30FF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Viper 23 launches HARM as the fixed site tracks. One SAM leaves the rail before shutdown; defensive maneuver, ALQ-184, chaff, and lost guidance defeat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7EEBA-B8B3-4D97-B400-10B57DA4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444"/>
          </a:solidFill>
          <a:ln xmlns:a="http://schemas.openxmlformats.org/drawingml/2006/main" w="9525">
            <a:solidFill>
              <a:srgbClr val="C944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FAF8F-D7BB-4138-96E0-0BBCDCEE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62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07:05:00</a:t>
            </a:r>
          </a:p>
        </p:txBody>
      </p:sp>
    </p:spTree>
    <p:extLst>
      <p:ext uri="{BB962C8B-B14F-4D97-AF65-F5344CB8AC3E}">
        <p14:creationId xmlns:p14="http://schemas.microsoft.com/office/powerpoint/2010/main" val="16338629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9">
            <a:extLst xmlns:a="http://schemas.openxmlformats.org/drawingml/2006/main">
              <a:ext uri="{FF2B5EF4-FFF2-40B4-BE49-F238E27FC236}">
                <a16:creationId xmlns:a16="http://schemas.microsoft.com/office/drawing/2014/main" id="{F7F8CBCA-CA56-49D6-80A8-49A98810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Weasels remain until the strike clears the threat belt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405D6-3E4C-4B62-B8F5-1233FD08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29962-AFA8-44ED-B353-23C52E9F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FICTIONAL TRAINING SCENARIO · PUBLIC-SOURCE DOCTRINE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64AB9-14DE-430F-8380-8052E630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53911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72D70-5B62-4364-B956-35F7B355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9C06C-ED7B-44D7-9D40-EA215618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07:08:45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63502-EC99-477E-A231-2D25D234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Razor releases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FDE17-44E9-4A40-8C54-DC4138B7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Four F-15Es release eight GBU-31s from altitude. Viper 21 keeps both threat sectors covered while Knight maintains standoff jamming.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16924-297F-4272-A33A-04DF31C8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C9680-9EB7-464C-8D22-B2EF7B89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07:08:45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56C51-6B58-4A5D-BC27-E36AB55E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3DE45-8B3D-4A7C-B9B1-6B704481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07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07:12:15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A4727-94F3-4FFC-9007-F2DE0EC1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disciplined no-shot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B6F08-9741-4DC5-8B54-8B9EC31D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 brief search emission appears north of the egress corridor. Viper 22 withholds: poor location quality, no track on the package, and no mission need.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9A6AB-9026-4776-8969-854BF68D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F5201-4ACC-4BBE-81E8-FFDF31DA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62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07:12:15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0AEE2-E75A-429F-8C8C-343CF11D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DF2E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6462D-59A7-4DAF-8F03-B8C929FF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907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C8B6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8B65"/>
                </a:solidFill>
                <a:latin typeface="Arial"/>
                <a:ea typeface="Arial"/>
                <a:cs typeface="Arial"/>
              </a:rPr>
              <a:t>08:05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8C409-69FE-45AB-B39D-A1CEDFB7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All Vipers recovered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B472F-689D-4557-96BB-CB83049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28956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The strike crosses coast-out at 07:14; Knight stops jamming at 07:18. Viper 21 rejoins, checks fuel and damage, and lands in two elements.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494F7-1E77-45C5-9CF5-CD086EA5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B65"/>
          </a:solidFill>
          <a:ln xmlns:a="http://schemas.openxmlformats.org/drawingml/2006/main" w="9525">
            <a:solidFill>
              <a:srgbClr val="2C8B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BD14F-219B-4810-9F12-3B40CB02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62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08:05</a:t>
            </a:r>
          </a:p>
        </p:txBody>
      </p:sp>
    </p:spTree>
    <p:extLst>
      <p:ext uri="{BB962C8B-B14F-4D97-AF65-F5344CB8AC3E}">
        <p14:creationId xmlns:p14="http://schemas.microsoft.com/office/powerpoint/2010/main" val="13355025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10">
            <a:extLst xmlns:a="http://schemas.openxmlformats.org/drawingml/2006/main">
              <a:ext uri="{FF2B5EF4-FFF2-40B4-BE49-F238E27FC236}">
                <a16:creationId xmlns:a16="http://schemas.microsoft.com/office/drawing/2014/main" id="{B46ABE7A-2812-482F-99C2-07CD1391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Every waypoint and combat action is timestamped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93441-0AB7-4FBF-9E06-67533F89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2F8DD-7B8A-4ECF-AEE6-22CE45D3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FICTIONAL TRAINING SCENARIO · PUBLIC-SOURCE DOCTRINE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1238250"/>
          <a:ext xmlns:a="http://schemas.openxmlformats.org/drawingml/2006/main" cx="113919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428750"/>
                <a:gridCol w="2143125"/>
                <a:gridCol w="3571875"/>
                <a:gridCol w="3105150"/>
              </a:tblGrid>
              <a:tr h="396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</a:p>
                  </a:txBody>
                  <a:tcPr marL="76200" marR="76200" marT="38100" marB="38100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Flight</a:t>
                      </a:r>
                    </a:p>
                  </a:txBody>
                  <a:tcPr marL="76200" marR="76200" marT="38100" marB="38100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Position</a:t>
                      </a:r>
                    </a:p>
                  </a:txBody>
                  <a:tcPr marL="76200" marR="76200" marT="38100" marB="38100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76200" marR="76200" marT="38100" marB="38100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76200" marR="76200" marT="38100" marB="38100">
                    <a:solidFill>
                      <a:srgbClr val="11131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06:02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Viper 21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Kestrel AB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Four-ship takeoff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Airborne on schedule</a:t>
                      </a:r>
                    </a:p>
                  </a:txBody>
                  <a:tcPr marL="76200" marR="76200" marT="38100" marB="38100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06:24–34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Viper 21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Texaco track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Four aircraft refuel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Push fuel achieved</a:t>
                      </a:r>
                    </a:p>
                  </a:txBody>
                  <a:tcPr marL="76200" marR="76200" marT="38100" marB="38100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06:44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Viper 21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WP ARROW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Package rendezvous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SEAD arrives first</a:t>
                      </a:r>
                    </a:p>
                  </a:txBody>
                  <a:tcPr marL="76200" marR="76200" marT="38100" marB="38100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06:51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Knight 51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JAMMER orbit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Electronic attack begins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EW/search bands degraded</a:t>
                      </a:r>
                    </a:p>
                  </a:txBody>
                  <a:tcPr marL="76200" marR="76200" marT="38100" marB="38100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06:54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Viper 21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WP FENCE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Elements bracket corridor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Full escort coverage</a:t>
                      </a:r>
                    </a:p>
                  </a:txBody>
                  <a:tcPr marL="76200" marR="76200" marT="38100" marB="38100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07:02:30</a:t>
                      </a:r>
                    </a:p>
                  </a:txBody>
                  <a:tcPr marL="76200" marR="76200" marT="38100" marB="38100">
                    <a:solidFill>
                      <a:srgbClr val="F8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Viper 21</a:t>
                      </a:r>
                    </a:p>
                  </a:txBody>
                  <a:tcPr marL="76200" marR="76200" marT="38100" marB="38100">
                    <a:solidFill>
                      <a:srgbClr val="F8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34 nm from Bastion</a:t>
                      </a:r>
                    </a:p>
                  </a:txBody>
                  <a:tcPr marL="76200" marR="76200" marT="38100" marB="38100">
                    <a:solidFill>
                      <a:srgbClr val="F8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AGM-88C release</a:t>
                      </a:r>
                    </a:p>
                  </a:txBody>
                  <a:tcPr marL="76200" marR="76200" marT="38100" marB="38100">
                    <a:solidFill>
                      <a:srgbClr val="F8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Radar shuts down</a:t>
                      </a:r>
                    </a:p>
                  </a:txBody>
                  <a:tcPr marL="76200" marR="76200" marT="38100" marB="38100">
                    <a:solidFill>
                      <a:srgbClr val="F8DDDD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07:05:00</a:t>
                      </a:r>
                    </a:p>
                  </a:txBody>
                  <a:tcPr marL="76200" marR="76200" marT="38100" marB="38100">
                    <a:solidFill>
                      <a:srgbClr val="F8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Viper 23</a:t>
                      </a:r>
                    </a:p>
                  </a:txBody>
                  <a:tcPr marL="76200" marR="76200" marT="38100" marB="38100">
                    <a:solidFill>
                      <a:srgbClr val="F8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27 nm from Citadel</a:t>
                      </a:r>
                    </a:p>
                  </a:txBody>
                  <a:tcPr marL="76200" marR="76200" marT="38100" marB="38100">
                    <a:solidFill>
                      <a:srgbClr val="F8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AGM-88C release</a:t>
                      </a:r>
                    </a:p>
                  </a:txBody>
                  <a:tcPr marL="76200" marR="76200" marT="38100" marB="38100">
                    <a:solidFill>
                      <a:srgbClr val="F8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One SAM fired; radar shuts</a:t>
                      </a:r>
                    </a:p>
                  </a:txBody>
                  <a:tcPr marL="76200" marR="76200" marT="38100" marB="38100">
                    <a:solidFill>
                      <a:srgbClr val="F8DDDD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07:08:45</a:t>
                      </a:r>
                    </a:p>
                  </a:txBody>
                  <a:tcPr marL="76200" marR="76200" marT="38100" marB="3810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Razor 31</a:t>
                      </a:r>
                    </a:p>
                  </a:txBody>
                  <a:tcPr marL="76200" marR="76200" marT="38100" marB="3810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ORION release line</a:t>
                      </a:r>
                    </a:p>
                  </a:txBody>
                  <a:tcPr marL="76200" marR="76200" marT="38100" marB="3810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Eight GBU-31 released</a:t>
                      </a:r>
                    </a:p>
                  </a:txBody>
                  <a:tcPr marL="76200" marR="76200" marT="38100" marB="3810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Impact at 07:10</a:t>
                      </a:r>
                    </a:p>
                  </a:txBody>
                  <a:tcPr marL="76200" marR="76200" marT="38100" marB="38100">
                    <a:solidFill>
                      <a:srgbClr val="D0EDFA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07:12:15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Viper 22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North egress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Emitter detected; no shot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Outside mission need</a:t>
                      </a:r>
                    </a:p>
                  </a:txBody>
                  <a:tcPr marL="76200" marR="76200" marT="38100" marB="38100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07:14–18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Package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Coast-out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Strike clears; jamming ends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Escort effect complete</a:t>
                      </a:r>
                    </a:p>
                  </a:txBody>
                  <a:tcPr marL="76200" marR="76200" marT="38100" marB="38100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08:02–05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Viper 21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Kestrel AB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Two-element landing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318"/>
                          </a:solidFill>
                        </a:rPr>
                        <a:t>4 of 4 recovered</a:t>
                      </a:r>
                    </a:p>
                  </a:txBody>
                  <a:tcPr marL="76200" marR="76200" marT="38100" marB="381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078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11">
            <a:extLst xmlns:a="http://schemas.openxmlformats.org/drawingml/2006/main">
              <a:ext uri="{FF2B5EF4-FFF2-40B4-BE49-F238E27FC236}">
                <a16:creationId xmlns:a16="http://schemas.microsoft.com/office/drawing/2014/main" id="{A87F7FC2-858E-4B27-A524-4DDA8F64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Suppression succeeded through behavior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BEB9B-A058-498A-8F77-F7B30C44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36C2E-B988-4C2B-91BE-2AB4D81E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FICTIONAL TRAINING SCENARIO · PUBLIC-SOURCE DOCTRINE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FB30B-74C9-4822-9287-D2D092C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505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F2E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342CB-E68F-4B50-8FDA-6768D522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C8B6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C8B6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D2E7D-F909-43B6-A159-A0C6D645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friendly aircraft lost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2EDE6-D277-48DC-9F77-19EBA63A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3505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3F8F1-7226-4F63-9F8E-94A2A5F1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87101-F06C-4B97-9DBE-E317A3A7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HARMs fired from 8 carried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4370C-CE1C-4AA2-B510-DAB99952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505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DD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5C643-15DC-42AE-91E8-91A05BB3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478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C9444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94444"/>
                </a:solidFill>
                <a:latin typeface="Arial"/>
                <a:ea typeface="Arial"/>
                <a:cs typeface="Arial"/>
              </a:rPr>
              <a:t>24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D9E02-ED5D-4DE6-A36C-68775436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coast-in to jamming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D8105-F081-428B-8119-7A7F8D62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Battle-damage assessment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2D444-5C8B-4B14-B4DF-D9041E88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BASTION: fire-control radar later assessed damaged; battery displaced.</a:t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CITADEL: radar survived, but remained silent until after the package cleared.</a:t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ORION: primary logistics buildings struck; runway and civilian infrastructure avoided.</a:t>
            </a:r>
          </a:p>
        </p:txBody>
      </p:sp>
    </p:spTree>
    <p:extLst>
      <p:ext uri="{BB962C8B-B14F-4D97-AF65-F5344CB8AC3E}">
        <p14:creationId xmlns:p14="http://schemas.microsoft.com/office/powerpoint/2010/main" val="20009557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28D4D9ED-9FBA-4125-892A-9E5CF94B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Debrief: model the escort as timed pressure on the IADS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2F167-726F-4DBA-8BFE-9D32A3D4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17EBB-E514-4752-8C94-0F7E2AE1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FICTIONAL TRAINING SCENARIO · PUBLIC-SOURCE DOCTRINE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68150-A3C6-4126-8CC6-DED3B997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Pilot lessons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5DE28-6F5D-4E80-97E3-5336598A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1. Arrive early enough to build the emitter picture.</a:t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2. Time jamming to the supported package’s exposure.</a:t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3. A reactive HARM is not missile defense.</a:t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4. Withhold shots that do not protect the mission.</a:t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5. Remain until the last supported aircraft is clear.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25E37-A216-4139-ADBF-20FBA377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52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HZPL events to simulate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12466-C6D4-4B82-931A-D1AE8E3F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859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• Escort dependency and effect window</a:t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• Emitter search / track / guide / silent states</a:t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• Jamming impact on track quality and guidance</a:t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• ARM launch, shutdown response, impact, and BDA</a:t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• Supported-package continue / reroute / abort branch</a:t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• Mission success independent of SAM destruction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63FD2-C871-42C1-9B11-CB65E87B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09156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773E8-D221-4B37-9E74-9E220339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30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24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Success condition: Razor 31 reaches weapons release and clears the corridor without prohibitive interference.</a:t>
            </a:r>
          </a:p>
        </p:txBody>
      </p:sp>
    </p:spTree>
    <p:extLst>
      <p:ext uri="{BB962C8B-B14F-4D97-AF65-F5344CB8AC3E}">
        <p14:creationId xmlns:p14="http://schemas.microsoft.com/office/powerpoint/2010/main" val="1490045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2026-08-02T15:57:27.0730000Z</dcterms:created>
  <dcterms:modified xsi:type="dcterms:W3CDTF">2026-08-02T15:57:27.0730000Z</dcterms:modified>
</coreProperties>
</file>